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7"/>
  </p:sld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</p:sldIdLst>
  <p:sldSz cx="12192000" cy="6858000" type="wide"/>
  <p:notesSz cx="6858000" cy="9144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rId3" Type="http://schemas.openxmlformats.org/officeDocument/2006/relationships/slide" Target="slides/slide3.xml"/><Relationship Id="rId4" Type="http://schemas.openxmlformats.org/officeDocument/2006/relationships/slide" Target="slides/slide4.xml"/><Relationship Id="rId5" Type="http://schemas.openxmlformats.org/officeDocument/2006/relationships/slide" Target="slides/slide5.xml"/><Relationship Id="rId6" Type="http://schemas.openxmlformats.org/officeDocument/2006/relationships/slide" Target="slides/slide6.xml"/><Relationship Id="rId7" Type="http://schemas.openxmlformats.org/officeDocument/2006/relationships/slide" Target="slides/slide7.xml"/><Relationship Id="rId8" Type="http://schemas.openxmlformats.org/officeDocument/2006/relationships/slide" Target="slides/slide8.xml"/><Relationship Id="rId9" Type="http://schemas.openxmlformats.org/officeDocument/2006/relationships/slide" Target="slides/slide9.xml"/><Relationship Id="rId10" Type="http://schemas.openxmlformats.org/officeDocument/2006/relationships/slide" Target="slides/slide10.xml"/><Relationship Id="rId11" Type="http://schemas.openxmlformats.org/officeDocument/2006/relationships/slide" Target="slides/slide11.xml"/><Relationship Id="rId12" Type="http://schemas.openxmlformats.org/officeDocument/2006/relationships/slide" Target="slides/slide12.xml"/><Relationship Id="rId13" Type="http://schemas.openxmlformats.org/officeDocument/2006/relationships/slide" Target="slides/slide13.xml"/><Relationship Id="rId14" Type="http://schemas.openxmlformats.org/officeDocument/2006/relationships/slide" Target="slides/slide14.xml"/><Relationship Id="rId15" Type="http://schemas.openxmlformats.org/officeDocument/2006/relationships/slide" Target="slides/slide15.xml"/><Relationship Id="rId16" Type="http://schemas.openxmlformats.org/officeDocument/2006/relationships/slide" Target="slides/slide16.xml"/><Relationship Id="rId17" Type="http://schemas.openxmlformats.org/officeDocument/2006/relationships/slideMaster" Target="slideMasters/slideMaster1.xml"/><Relationship Id="rId18" Type="http://schemas.openxmlformats.org/officeDocument/2006/relationships/theme" Target="theme/theme1.xml"/>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85800" y="1143000"/>
            <a:ext cx="10881360" cy="914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r>
              <a:rPr lang="en-US" sz="4000" b="1">
                <a:solidFill>
                  <a:srgbClr val="0F172A"/>
                </a:solidFill>
              </a:rPr>
              <a:t>Campaign Recommendation Project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731520" y="2148840"/>
            <a:ext cx="9875520" cy="914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r>
              <a:rPr lang="en-US" sz="2200">
                <a:solidFill>
                  <a:srgbClr val="475569"/>
                </a:solidFill>
              </a:rPr>
              <a:t>How model is trained, how prediction runs, and what business output is created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31520" y="5120640"/>
            <a:ext cx="10058400" cy="5029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r>
              <a:rPr lang="en-US" sz="1600">
                <a:solidFill>
                  <a:srgbClr val="64748B"/>
                </a:solidFill>
              </a:rPr>
              <a:t>Stakeholder overview | simple technical explanation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02920" y="320040"/>
            <a:ext cx="11155680" cy="54864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r>
              <a:rPr lang="en-US" sz="2800" b="1">
                <a:solidFill>
                  <a:srgbClr val="0F172A"/>
                </a:solidFill>
              </a:rPr>
              <a:t>Project Purpose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777240" y="1143000"/>
            <a:ext cx="10607040" cy="43891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r>
              <a:rPr lang="en-US" sz="2000">
                <a:solidFill>
                  <a:srgbClr val="1F2937"/>
                </a:solidFill>
              </a:rPr>
              <a:t>• Recommend EMI communication plan for each loan account.</a:t>
            </a:r>
          </a:p>
          <a:p>
            <a:r>
              <a:rPr lang="en-US" sz="2000">
                <a:solidFill>
                  <a:srgbClr val="1F2937"/>
                </a:solidFill>
              </a:rPr>
              <a:t>• Decide day, channel, time, and language for D-5 to D+5.</a:t>
            </a:r>
          </a:p>
          <a:p>
            <a:r>
              <a:rPr lang="en-US" sz="2000">
                <a:solidFill>
                  <a:srgbClr val="1F2937"/>
                </a:solidFill>
              </a:rPr>
              <a:t>• Keep D as no communication.</a:t>
            </a:r>
          </a:p>
          <a:p>
            <a:r>
              <a:rPr lang="en-US" sz="2000">
                <a:solidFill>
                  <a:srgbClr val="1F2937"/>
                </a:solidFill>
              </a:rPr>
              <a:t>• Control contact intensity by customer risk bucket.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02920" y="320040"/>
            <a:ext cx="11155680" cy="54864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r>
              <a:rPr lang="en-US" sz="2800" b="1">
                <a:solidFill>
                  <a:srgbClr val="0F172A"/>
                </a:solidFill>
              </a:rPr>
              <a:t>Business Output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777240" y="1143000"/>
            <a:ext cx="10607040" cy="43891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r>
              <a:rPr lang="en-US" sz="2000">
                <a:solidFill>
                  <a:srgbClr val="1F2937"/>
                </a:solidFill>
              </a:rPr>
              <a:t>• One row per loan account for next prediction month.</a:t>
            </a:r>
          </a:p>
          <a:p>
            <a:r>
              <a:rPr lang="en-US" sz="2000">
                <a:solidFill>
                  <a:srgbClr val="1F2937"/>
                </a:solidFill>
              </a:rPr>
              <a:t>• Daily columns: D-5, D-4, D-3, D-2, D-1, D, D+1 ... D+5.</a:t>
            </a:r>
          </a:p>
          <a:p>
            <a:r>
              <a:rPr lang="en-US" sz="2000">
                <a:solidFill>
                  <a:srgbClr val="1F2937"/>
                </a:solidFill>
              </a:rPr>
              <a:t>• Strategy looks like SMS-9AM-ENGLISH or WH-5PM-HINDI.</a:t>
            </a:r>
          </a:p>
          <a:p>
            <a:r>
              <a:rPr lang="en-US" sz="2000">
                <a:solidFill>
                  <a:srgbClr val="1F2937"/>
                </a:solidFill>
              </a:rPr>
              <a:t>• Blank '-' means no recommendation for that day.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02920" y="320040"/>
            <a:ext cx="11155680" cy="54864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r>
              <a:rPr lang="en-US" sz="2800" b="1">
                <a:solidFill>
                  <a:srgbClr val="0F172A"/>
                </a:solidFill>
              </a:rPr>
              <a:t>Risk Rule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777240" y="1143000"/>
            <a:ext cx="10607040" cy="43891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r>
              <a:rPr lang="en-US" sz="2000">
                <a:solidFill>
                  <a:srgbClr val="1F2937"/>
                </a:solidFill>
              </a:rPr>
              <a:t>• LOW risk: top 1 recommendation per day.</a:t>
            </a:r>
          </a:p>
          <a:p>
            <a:r>
              <a:rPr lang="en-US" sz="2000">
                <a:solidFill>
                  <a:srgbClr val="1F2937"/>
                </a:solidFill>
              </a:rPr>
              <a:t>• MEDIUM risk: top 2 recommendations per day.</a:t>
            </a:r>
          </a:p>
          <a:p>
            <a:r>
              <a:rPr lang="en-US" sz="2000">
                <a:solidFill>
                  <a:srgbClr val="1F2937"/>
                </a:solidFill>
              </a:rPr>
              <a:t>• HIGH risk: top 3 recommendations per day.</a:t>
            </a:r>
          </a:p>
          <a:p>
            <a:r>
              <a:rPr lang="en-US" sz="2000">
                <a:solidFill>
                  <a:srgbClr val="1F2937"/>
                </a:solidFill>
              </a:rPr>
              <a:t>• This keeps business control outside model complexity.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02920" y="320040"/>
            <a:ext cx="11155680" cy="54864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r>
              <a:rPr lang="en-US" sz="2800" b="1">
                <a:solidFill>
                  <a:srgbClr val="0F172A"/>
                </a:solidFill>
              </a:rPr>
              <a:t>How Model Is Trained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77240" y="1097280"/>
            <a:ext cx="502920" cy="457200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22C55E"/>
            </a:solidFill>
          </a:ln>
        </p:spPr>
        <p:txBody>
          <a:bodyPr wrap="square" lIns="91440" tIns="45720" rIns="91440" bIns="45720"/>
          <a:lstStyle/>
          <a:p>
            <a:r>
              <a:rPr lang="en-US" sz="1800" b="1">
                <a:solidFill>
                  <a:srgbClr val="166534"/>
                </a:solidFill>
              </a:rPr>
              <a:t>1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417320" y="1069848"/>
            <a:ext cx="9601200" cy="56692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r>
              <a:rPr lang="en-US" sz="1900">
                <a:solidFill>
                  <a:srgbClr val="1F2937"/>
                </a:solidFill>
              </a:rPr>
              <a:t>Collect history: Past communication rows from Postgres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77240" y="1920240"/>
            <a:ext cx="502920" cy="457200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22C55E"/>
            </a:solidFill>
          </a:ln>
        </p:spPr>
        <p:txBody>
          <a:bodyPr wrap="square" lIns="91440" tIns="45720" rIns="91440" bIns="45720"/>
          <a:lstStyle/>
          <a:p>
            <a:r>
              <a:rPr lang="en-US" sz="1800" b="1">
                <a:solidFill>
                  <a:srgbClr val="166534"/>
                </a:solidFill>
              </a:rPr>
              <a:t>2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417320" y="1892808"/>
            <a:ext cx="9601200" cy="56692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r>
              <a:rPr lang="en-US" sz="1900">
                <a:solidFill>
                  <a:srgbClr val="1F2937"/>
                </a:solidFill>
              </a:rPr>
              <a:t>Create labels: Successful channel-time-language patterns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77240" y="2743200"/>
            <a:ext cx="502920" cy="457200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22C55E"/>
            </a:solidFill>
          </a:ln>
        </p:spPr>
        <p:txBody>
          <a:bodyPr wrap="square" lIns="91440" tIns="45720" rIns="91440" bIns="45720"/>
          <a:lstStyle/>
          <a:p>
            <a:r>
              <a:rPr lang="en-US" sz="1800" b="1">
                <a:solidFill>
                  <a:srgbClr val="166534"/>
                </a:solidFill>
              </a:rPr>
              <a:t>3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417320" y="2715768"/>
            <a:ext cx="9601200" cy="56692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r>
              <a:rPr lang="en-US" sz="1900">
                <a:solidFill>
                  <a:srgbClr val="1F2937"/>
                </a:solidFill>
              </a:rPr>
              <a:t>Create features: Per-account 3-month behavior summary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77240" y="3566160"/>
            <a:ext cx="502920" cy="457200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22C55E"/>
            </a:solidFill>
          </a:ln>
        </p:spPr>
        <p:txBody>
          <a:bodyPr wrap="square" lIns="91440" tIns="45720" rIns="91440" bIns="45720"/>
          <a:lstStyle/>
          <a:p>
            <a:r>
              <a:rPr lang="en-US" sz="1800" b="1">
                <a:solidFill>
                  <a:srgbClr val="166534"/>
                </a:solidFill>
              </a:rPr>
              <a:t>4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417320" y="3538728"/>
            <a:ext cx="9601200" cy="56692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r>
              <a:rPr lang="en-US" sz="1900">
                <a:solidFill>
                  <a:srgbClr val="1F2937"/>
                </a:solidFill>
              </a:rPr>
              <a:t>Train model: CatBoost learns patterns per EMI-relative day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77240" y="4389120"/>
            <a:ext cx="502920" cy="457200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22C55E"/>
            </a:solidFill>
          </a:ln>
        </p:spPr>
        <p:txBody>
          <a:bodyPr wrap="square" lIns="91440" tIns="45720" rIns="91440" bIns="45720"/>
          <a:lstStyle/>
          <a:p>
            <a:r>
              <a:rPr lang="en-US" sz="1800" b="1">
                <a:solidFill>
                  <a:srgbClr val="166534"/>
                </a:solidFill>
              </a:rPr>
              <a:t>5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417320" y="4361688"/>
            <a:ext cx="9601200" cy="56692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r>
              <a:rPr lang="en-US" sz="1900">
                <a:solidFill>
                  <a:srgbClr val="1F2937"/>
                </a:solidFill>
              </a:rPr>
              <a:t>Validate: Check performance on later month data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02920" y="320040"/>
            <a:ext cx="11155680" cy="54864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r>
              <a:rPr lang="en-US" sz="2800" b="1">
                <a:solidFill>
                  <a:srgbClr val="0F172A"/>
                </a:solidFill>
              </a:rPr>
              <a:t>What Model Learns From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777240" y="1143000"/>
            <a:ext cx="10607040" cy="43891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r>
              <a:rPr lang="en-US" sz="2000">
                <a:solidFill>
                  <a:srgbClr val="1F2937"/>
                </a:solidFill>
              </a:rPr>
              <a:t>• Latest 3 months of account-level communication history.</a:t>
            </a:r>
          </a:p>
          <a:p>
            <a:r>
              <a:rPr lang="en-US" sz="2000">
                <a:solidFill>
                  <a:srgbClr val="1F2937"/>
                </a:solidFill>
              </a:rPr>
              <a:t>• SMS, WhatsApp, and IVR/Voice activity intensity.</a:t>
            </a:r>
          </a:p>
          <a:p>
            <a:r>
              <a:rPr lang="en-US" sz="2000">
                <a:solidFill>
                  <a:srgbClr val="1F2937"/>
                </a:solidFill>
              </a:rPr>
              <a:t>• Past successful send time and language patterns.</a:t>
            </a:r>
          </a:p>
          <a:p>
            <a:r>
              <a:rPr lang="en-US" sz="2000">
                <a:solidFill>
                  <a:srgbClr val="1F2937"/>
                </a:solidFill>
              </a:rPr>
              <a:t>• Customer risk and source month context.</a:t>
            </a:r>
          </a:p>
          <a:p>
            <a:r>
              <a:rPr lang="en-US" sz="2000">
                <a:solidFill>
                  <a:srgbClr val="1F2937"/>
                </a:solidFill>
              </a:rPr>
              <a:t>• Only valid EMI-window days are used.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02920" y="320040"/>
            <a:ext cx="11155680" cy="54864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r>
              <a:rPr lang="en-US" sz="2800" b="1">
                <a:solidFill>
                  <a:srgbClr val="0F172A"/>
                </a:solidFill>
              </a:rPr>
              <a:t>What Success Means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777240" y="1143000"/>
            <a:ext cx="10607040" cy="43891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r>
              <a:rPr lang="en-US" sz="2000">
                <a:solidFill>
                  <a:srgbClr val="1F2937"/>
                </a:solidFill>
              </a:rPr>
              <a:t>• Success means useful communication signal, not direct payment conversion.</a:t>
            </a:r>
          </a:p>
          <a:p>
            <a:r>
              <a:rPr lang="en-US" sz="2000">
                <a:solidFill>
                  <a:srgbClr val="1F2937"/>
                </a:solidFill>
              </a:rPr>
              <a:t>• SMS/WhatsApp success uses delivered, read, clicked style statuses.</a:t>
            </a:r>
          </a:p>
          <a:p>
            <a:r>
              <a:rPr lang="en-US" sz="2000">
                <a:solidFill>
                  <a:srgbClr val="1F2937"/>
                </a:solidFill>
              </a:rPr>
              <a:t>• Voice/IVR success uses connected call statuses.</a:t>
            </a:r>
          </a:p>
          <a:p>
            <a:r>
              <a:rPr lang="en-US" sz="2000">
                <a:solidFill>
                  <a:srgbClr val="1F2937"/>
                </a:solidFill>
              </a:rPr>
              <a:t>• Model learns which strategy historically worked for similar accounts.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02920" y="320040"/>
            <a:ext cx="11155680" cy="54864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r>
              <a:rPr lang="en-US" sz="2800" b="1">
                <a:solidFill>
                  <a:srgbClr val="0F172A"/>
                </a:solidFill>
              </a:rPr>
              <a:t>Production Prediction Flow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502920" y="1417320"/>
            <a:ext cx="1664208" cy="1051560"/>
          </a:xfrm>
          <a:prstGeom prst="roundRect">
            <a:avLst/>
          </a:prstGeom>
          <a:solidFill>
            <a:srgbClr val="E0F2FE"/>
          </a:solidFill>
          <a:ln w="12700">
            <a:solidFill>
              <a:srgbClr val="38BDF8"/>
            </a:solidFill>
          </a:ln>
        </p:spPr>
        <p:txBody>
          <a:bodyPr wrap="square" lIns="91440" tIns="45720" rIns="91440" bIns="45720"/>
          <a:lstStyle/>
          <a:p>
            <a:r>
              <a:rPr lang="en-US" sz="1400" b="1">
                <a:solidFill>
                  <a:srgbClr val="0F172A"/>
                </a:solidFill>
              </a:rPr>
              <a:t>Raw data</a:t>
            </a:r>
          </a:p>
          <a:p>
            <a:r>
              <a:rPr lang="en-US" sz="1400" b="1">
                <a:solidFill>
                  <a:srgbClr val="0F172A"/>
                </a:solidFill>
              </a:rPr>
              <a:t>Communication + case records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2130552" y="1755648"/>
            <a:ext cx="320040" cy="32004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r>
              <a:rPr lang="en-US" sz="2200" b="1">
                <a:solidFill>
                  <a:srgbClr val="0EA5E9"/>
                </a:solidFill>
              </a:rPr>
              <a:t>→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2404872" y="1417320"/>
            <a:ext cx="1664208" cy="1051560"/>
          </a:xfrm>
          <a:prstGeom prst="roundRect">
            <a:avLst/>
          </a:prstGeom>
          <a:solidFill>
            <a:srgbClr val="E0F2FE"/>
          </a:solidFill>
          <a:ln w="12700">
            <a:solidFill>
              <a:srgbClr val="38BDF8"/>
            </a:solidFill>
          </a:ln>
        </p:spPr>
        <p:txBody>
          <a:bodyPr wrap="square" lIns="91440" tIns="45720" rIns="91440" bIns="45720"/>
          <a:lstStyle/>
          <a:p>
            <a:r>
              <a:rPr lang="en-US" sz="1400" b="1">
                <a:solidFill>
                  <a:srgbClr val="0F172A"/>
                </a:solidFill>
              </a:rPr>
              <a:t>Clean data</a:t>
            </a:r>
          </a:p>
          <a:p>
            <a:r>
              <a:rPr lang="en-US" sz="1400" b="1">
                <a:solidFill>
                  <a:srgbClr val="0F172A"/>
                </a:solidFill>
              </a:rPr>
              <a:t>Valid EMI window rows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4032504" y="1755648"/>
            <a:ext cx="320040" cy="32004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r>
              <a:rPr lang="en-US" sz="2200" b="1">
                <a:solidFill>
                  <a:srgbClr val="0EA5E9"/>
                </a:solidFill>
              </a:rPr>
              <a:t>→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306824" y="1417320"/>
            <a:ext cx="1664208" cy="1051560"/>
          </a:xfrm>
          <a:prstGeom prst="roundRect">
            <a:avLst/>
          </a:prstGeom>
          <a:solidFill>
            <a:srgbClr val="E0F2FE"/>
          </a:solidFill>
          <a:ln w="12700">
            <a:solidFill>
              <a:srgbClr val="38BDF8"/>
            </a:solidFill>
          </a:ln>
        </p:spPr>
        <p:txBody>
          <a:bodyPr wrap="square" lIns="91440" tIns="45720" rIns="91440" bIns="45720"/>
          <a:lstStyle/>
          <a:p>
            <a:r>
              <a:rPr lang="en-US" sz="1400" b="1">
                <a:solidFill>
                  <a:srgbClr val="0F172A"/>
                </a:solidFill>
              </a:rPr>
              <a:t>Build features</a:t>
            </a:r>
          </a:p>
          <a:p>
            <a:r>
              <a:rPr lang="en-US" sz="1400" b="1">
                <a:solidFill>
                  <a:srgbClr val="0F172A"/>
                </a:solidFill>
              </a:rPr>
              <a:t>3-month account history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5934456" y="1755648"/>
            <a:ext cx="320040" cy="32004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r>
              <a:rPr lang="en-US" sz="2200" b="1">
                <a:solidFill>
                  <a:srgbClr val="0EA5E9"/>
                </a:solidFill>
              </a:rPr>
              <a:t>→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208776" y="1417320"/>
            <a:ext cx="1664208" cy="1051560"/>
          </a:xfrm>
          <a:prstGeom prst="roundRect">
            <a:avLst/>
          </a:prstGeom>
          <a:solidFill>
            <a:srgbClr val="E0F2FE"/>
          </a:solidFill>
          <a:ln w="12700">
            <a:solidFill>
              <a:srgbClr val="38BDF8"/>
            </a:solidFill>
          </a:ln>
        </p:spPr>
        <p:txBody>
          <a:bodyPr wrap="square" lIns="91440" tIns="45720" rIns="91440" bIns="45720"/>
          <a:lstStyle/>
          <a:p>
            <a:r>
              <a:rPr lang="en-US" sz="1400" b="1">
                <a:solidFill>
                  <a:srgbClr val="0F172A"/>
                </a:solidFill>
              </a:rPr>
              <a:t>Model predict</a:t>
            </a:r>
          </a:p>
          <a:p>
            <a:r>
              <a:rPr lang="en-US" sz="1400" b="1">
                <a:solidFill>
                  <a:srgbClr val="0F172A"/>
                </a:solidFill>
              </a:rPr>
              <a:t>Best day/channel/time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7836408" y="1755648"/>
            <a:ext cx="320040" cy="32004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r>
              <a:rPr lang="en-US" sz="2200" b="1">
                <a:solidFill>
                  <a:srgbClr val="0EA5E9"/>
                </a:solidFill>
              </a:rPr>
              <a:t>→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8110728" y="1417320"/>
            <a:ext cx="1664208" cy="1051560"/>
          </a:xfrm>
          <a:prstGeom prst="roundRect">
            <a:avLst/>
          </a:prstGeom>
          <a:solidFill>
            <a:srgbClr val="E0F2FE"/>
          </a:solidFill>
          <a:ln w="12700">
            <a:solidFill>
              <a:srgbClr val="38BDF8"/>
            </a:solidFill>
          </a:ln>
        </p:spPr>
        <p:txBody>
          <a:bodyPr wrap="square" lIns="91440" tIns="45720" rIns="91440" bIns="45720"/>
          <a:lstStyle/>
          <a:p>
            <a:r>
              <a:rPr lang="en-US" sz="1400" b="1">
                <a:solidFill>
                  <a:srgbClr val="0F172A"/>
                </a:solidFill>
              </a:rPr>
              <a:t>Apply rules</a:t>
            </a:r>
          </a:p>
          <a:p>
            <a:r>
              <a:rPr lang="en-US" sz="1400" b="1">
                <a:solidFill>
                  <a:srgbClr val="0F172A"/>
                </a:solidFill>
              </a:rPr>
              <a:t>Risk-based top 1/2/3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9738360" y="1755648"/>
            <a:ext cx="320040" cy="32004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r>
              <a:rPr lang="en-US" sz="2200" b="1">
                <a:solidFill>
                  <a:srgbClr val="0EA5E9"/>
                </a:solidFill>
              </a:rPr>
              <a:t>→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012680" y="1417320"/>
            <a:ext cx="1664208" cy="1051560"/>
          </a:xfrm>
          <a:prstGeom prst="roundRect">
            <a:avLst/>
          </a:prstGeom>
          <a:solidFill>
            <a:srgbClr val="E0F2FE"/>
          </a:solidFill>
          <a:ln w="12700">
            <a:solidFill>
              <a:srgbClr val="38BDF8"/>
            </a:solidFill>
          </a:ln>
        </p:spPr>
        <p:txBody>
          <a:bodyPr wrap="square" lIns="91440" tIns="45720" rIns="91440" bIns="45720"/>
          <a:lstStyle/>
          <a:p>
            <a:r>
              <a:rPr lang="en-US" sz="1400" b="1">
                <a:solidFill>
                  <a:srgbClr val="0F172A"/>
                </a:solidFill>
              </a:rPr>
              <a:t>Store output</a:t>
            </a:r>
          </a:p>
          <a:p>
            <a:r>
              <a:rPr lang="en-US" sz="1400" b="1">
                <a:solidFill>
                  <a:srgbClr val="0F172A"/>
                </a:solidFill>
              </a:rPr>
              <a:t>DB tables + CSV summary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777240" y="3703320"/>
            <a:ext cx="10424160" cy="12801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wrap="square" lIns="91440" tIns="45720" rIns="91440" bIns="45720"/>
          <a:lstStyle/>
          <a:p>
            <a:r>
              <a:rPr lang="en-US" sz="2200">
                <a:solidFill>
                  <a:srgbClr val="334155"/>
                </a:solidFill>
              </a:rPr>
              <a:t>Plain meaning: we use recent customer communication behavior to decide next month’s recommended contact plan.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02920" y="320040"/>
            <a:ext cx="11155680" cy="54864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r>
              <a:rPr lang="en-US" sz="2800" b="1">
                <a:solidFill>
                  <a:srgbClr val="0F172A"/>
                </a:solidFill>
              </a:rPr>
              <a:t>Monthly Production Run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777240" y="1143000"/>
            <a:ext cx="10607040" cy="43891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r>
              <a:rPr lang="en-US" sz="2000">
                <a:solidFill>
                  <a:srgbClr val="1F2937"/>
                </a:solidFill>
              </a:rPr>
              <a:t>• Fetch current source month data from Postgres.</a:t>
            </a:r>
          </a:p>
          <a:p>
            <a:r>
              <a:rPr lang="en-US" sz="2000">
                <a:solidFill>
                  <a:srgbClr val="1F2937"/>
                </a:solidFill>
              </a:rPr>
              <a:t>• Fetch previous months needed for 3-month history.</a:t>
            </a:r>
          </a:p>
          <a:p>
            <a:r>
              <a:rPr lang="en-US" sz="2000">
                <a:solidFill>
                  <a:srgbClr val="1F2937"/>
                </a:solidFill>
              </a:rPr>
              <a:t>• Prepare features and schedule-shaped data.</a:t>
            </a:r>
          </a:p>
          <a:p>
            <a:r>
              <a:rPr lang="en-US" sz="2000">
                <a:solidFill>
                  <a:srgbClr val="1F2937"/>
                </a:solidFill>
              </a:rPr>
              <a:t>• Load CatBoost production model.</a:t>
            </a:r>
          </a:p>
          <a:p>
            <a:r>
              <a:rPr lang="en-US" sz="2000">
                <a:solidFill>
                  <a:srgbClr val="1F2937"/>
                </a:solidFill>
              </a:rPr>
              <a:t>• Predict next month account schedules.</a:t>
            </a:r>
          </a:p>
          <a:p>
            <a:r>
              <a:rPr lang="en-US" sz="2000">
                <a:solidFill>
                  <a:srgbClr val="1F2937"/>
                </a:solidFill>
              </a:rPr>
              <a:t>• Store results back to Postgres and save summary files.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02920" y="320040"/>
            <a:ext cx="11155680" cy="54864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r>
              <a:rPr lang="en-US" sz="2800" b="1">
                <a:solidFill>
                  <a:srgbClr val="0F172A"/>
                </a:solidFill>
              </a:rPr>
              <a:t>Airflow Monthly Inference DAG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777240" y="1143000"/>
            <a:ext cx="10607040" cy="43891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r>
              <a:rPr lang="en-US" sz="2000">
                <a:solidFill>
                  <a:srgbClr val="1F2937"/>
                </a:solidFill>
              </a:rPr>
              <a:t>• Airflow will schedule the monthly prediction job.</a:t>
            </a:r>
          </a:p>
          <a:p>
            <a:r>
              <a:rPr lang="en-US" sz="2000">
                <a:solidFill>
                  <a:srgbClr val="1F2937"/>
                </a:solidFill>
              </a:rPr>
              <a:t>• Typical run: after monthly source data is available.</a:t>
            </a:r>
          </a:p>
          <a:p>
            <a:r>
              <a:rPr lang="en-US" sz="2000">
                <a:solidFill>
                  <a:srgbClr val="1F2937"/>
                </a:solidFill>
              </a:rPr>
              <a:t>• DAG checks data availability before prediction starts.</a:t>
            </a:r>
          </a:p>
          <a:p>
            <a:r>
              <a:rPr lang="en-US" sz="2000">
                <a:solidFill>
                  <a:srgbClr val="1F2937"/>
                </a:solidFill>
              </a:rPr>
              <a:t>• If input rows are missing, job stops safely and logs reason.</a:t>
            </a:r>
          </a:p>
          <a:p>
            <a:r>
              <a:rPr lang="en-US" sz="2000">
                <a:solidFill>
                  <a:srgbClr val="1F2937"/>
                </a:solidFill>
              </a:rPr>
              <a:t>• Successful run stores predictions, campaign rows, mappings, and audit counts.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02920" y="320040"/>
            <a:ext cx="11155680" cy="54864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r>
              <a:rPr lang="en-US" sz="2800" b="1">
                <a:solidFill>
                  <a:srgbClr val="0F172A"/>
                </a:solidFill>
              </a:rPr>
              <a:t>Monthly Inference DAG Steps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777240" y="1143000"/>
            <a:ext cx="10607040" cy="43891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r>
              <a:rPr lang="en-US" sz="2000">
                <a:solidFill>
                  <a:srgbClr val="1F2937"/>
                </a:solidFill>
              </a:rPr>
              <a:t>• Task 1: load configuration and month parameters.</a:t>
            </a:r>
          </a:p>
          <a:p>
            <a:r>
              <a:rPr lang="en-US" sz="2000">
                <a:solidFill>
                  <a:srgbClr val="1F2937"/>
                </a:solidFill>
              </a:rPr>
              <a:t>• Task 2: fetch communication history and current cases.</a:t>
            </a:r>
          </a:p>
          <a:p>
            <a:r>
              <a:rPr lang="en-US" sz="2000">
                <a:solidFill>
                  <a:srgbClr val="1F2937"/>
                </a:solidFill>
              </a:rPr>
              <a:t>• Task 3: build model-ready features.</a:t>
            </a:r>
          </a:p>
          <a:p>
            <a:r>
              <a:rPr lang="en-US" sz="2000">
                <a:solidFill>
                  <a:srgbClr val="1F2937"/>
                </a:solidFill>
              </a:rPr>
              <a:t>• Task 4: run CatBoost prediction.</a:t>
            </a:r>
          </a:p>
          <a:p>
            <a:r>
              <a:rPr lang="en-US" sz="2000">
                <a:solidFill>
                  <a:srgbClr val="1F2937"/>
                </a:solidFill>
              </a:rPr>
              <a:t>• Task 5: store output tables in Postgres.</a:t>
            </a:r>
          </a:p>
          <a:p>
            <a:r>
              <a:rPr lang="en-US" sz="2000">
                <a:solidFill>
                  <a:srgbClr val="1F2937"/>
                </a:solidFill>
              </a:rPr>
              <a:t>• Task 6: write audit summary and notify team.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02920" y="320040"/>
            <a:ext cx="11155680" cy="54864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r>
              <a:rPr lang="en-US" sz="2800" b="1">
                <a:solidFill>
                  <a:srgbClr val="0F172A"/>
                </a:solidFill>
              </a:rPr>
              <a:t>Retraining Pipeline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777240" y="1143000"/>
            <a:ext cx="10607040" cy="43891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r>
              <a:rPr lang="en-US" sz="2000">
                <a:solidFill>
                  <a:srgbClr val="1F2937"/>
                </a:solidFill>
              </a:rPr>
              <a:t>• Retraining is separate from monthly prediction.</a:t>
            </a:r>
          </a:p>
          <a:p>
            <a:r>
              <a:rPr lang="en-US" sz="2000">
                <a:solidFill>
                  <a:srgbClr val="1F2937"/>
                </a:solidFill>
              </a:rPr>
              <a:t>• It runs when new labeled history is ready or model quality drops.</a:t>
            </a:r>
          </a:p>
          <a:p>
            <a:r>
              <a:rPr lang="en-US" sz="2000">
                <a:solidFill>
                  <a:srgbClr val="1F2937"/>
                </a:solidFill>
              </a:rPr>
              <a:t>• Pipeline rebuilds training data from latest historical months.</a:t>
            </a:r>
          </a:p>
          <a:p>
            <a:r>
              <a:rPr lang="en-US" sz="2000">
                <a:solidFill>
                  <a:srgbClr val="1F2937"/>
                </a:solidFill>
              </a:rPr>
              <a:t>• Model is trained and validated before promotion.</a:t>
            </a:r>
          </a:p>
          <a:p>
            <a:r>
              <a:rPr lang="en-US" sz="2000">
                <a:solidFill>
                  <a:srgbClr val="1F2937"/>
                </a:solidFill>
              </a:rPr>
              <a:t>• Only approved model is moved to production use.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02920" y="320040"/>
            <a:ext cx="11155680" cy="54864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r>
              <a:rPr lang="en-US" sz="2800" b="1">
                <a:solidFill>
                  <a:srgbClr val="0F172A"/>
                </a:solidFill>
              </a:rPr>
              <a:t>Airflow Retraining DAG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777240" y="1143000"/>
            <a:ext cx="10607040" cy="43891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r>
              <a:rPr lang="en-US" sz="2000">
                <a:solidFill>
                  <a:srgbClr val="1F2937"/>
                </a:solidFill>
              </a:rPr>
              <a:t>• Airflow will also schedule or trigger retraining.</a:t>
            </a:r>
          </a:p>
          <a:p>
            <a:r>
              <a:rPr lang="en-US" sz="2000">
                <a:solidFill>
                  <a:srgbClr val="1F2937"/>
                </a:solidFill>
              </a:rPr>
              <a:t>• DAG creates training dataset, schedule labels, and monthly features.</a:t>
            </a:r>
          </a:p>
          <a:p>
            <a:r>
              <a:rPr lang="en-US" sz="2000">
                <a:solidFill>
                  <a:srgbClr val="1F2937"/>
                </a:solidFill>
              </a:rPr>
              <a:t>• DAG trains CatBoost model and saves metrics.</a:t>
            </a:r>
          </a:p>
          <a:p>
            <a:r>
              <a:rPr lang="en-US" sz="2000">
                <a:solidFill>
                  <a:srgbClr val="1F2937"/>
                </a:solidFill>
              </a:rPr>
              <a:t>• Validation report is reviewed before model promotion.</a:t>
            </a:r>
          </a:p>
          <a:p>
            <a:r>
              <a:rPr lang="en-US" sz="2000">
                <a:solidFill>
                  <a:srgbClr val="1F2937"/>
                </a:solidFill>
              </a:rPr>
              <a:t>• Production inference DAG then uses promoted model bundle or MLflow alias.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02920" y="320040"/>
            <a:ext cx="11155680" cy="54864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r>
              <a:rPr lang="en-US" sz="2800" b="1">
                <a:solidFill>
                  <a:srgbClr val="0F172A"/>
                </a:solidFill>
              </a:rPr>
              <a:t>Latest Run Example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777240" y="1143000"/>
            <a:ext cx="10607040" cy="43891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r>
              <a:rPr lang="en-US" sz="2000">
                <a:solidFill>
                  <a:srgbClr val="1F2937"/>
                </a:solidFill>
              </a:rPr>
              <a:t>• Source month: APR-2026.</a:t>
            </a:r>
          </a:p>
          <a:p>
            <a:r>
              <a:rPr lang="en-US" sz="2000">
                <a:solidFill>
                  <a:srgbClr val="1F2937"/>
                </a:solidFill>
              </a:rPr>
              <a:t>• Prediction month: MAY-2026.</a:t>
            </a:r>
          </a:p>
          <a:p>
            <a:r>
              <a:rPr lang="en-US" sz="2000">
                <a:solidFill>
                  <a:srgbClr val="1F2937"/>
                </a:solidFill>
              </a:rPr>
              <a:t>• Case rows processed: 82,187.</a:t>
            </a:r>
          </a:p>
          <a:p>
            <a:r>
              <a:rPr lang="en-US" sz="2000">
                <a:solidFill>
                  <a:srgbClr val="1F2937"/>
                </a:solidFill>
              </a:rPr>
              <a:t>• Model-scored rows with history: 2,192.</a:t>
            </a:r>
          </a:p>
          <a:p>
            <a:r>
              <a:rPr lang="en-US" sz="2000">
                <a:solidFill>
                  <a:srgbClr val="1F2937"/>
                </a:solidFill>
              </a:rPr>
              <a:t>• Prediction snapshots stored: 82,187.</a:t>
            </a:r>
          </a:p>
          <a:p>
            <a:r>
              <a:rPr lang="en-US" sz="2000">
                <a:solidFill>
                  <a:srgbClr val="1F2937"/>
                </a:solidFill>
              </a:rPr>
              <a:t>• Campaign scheduler rows stored: 392.</a:t>
            </a:r>
          </a:p>
          <a:p>
            <a:r>
              <a:rPr lang="en-US" sz="2000">
                <a:solidFill>
                  <a:srgbClr val="1F2937"/>
                </a:solidFill>
              </a:rPr>
              <a:t>• Campaign mapping rows stored: 33,354.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77240" y="5715000"/>
            <a:ext cx="10424160" cy="41148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r>
              <a:rPr lang="en-US" sz="1400">
                <a:solidFill>
                  <a:srgbClr val="64748B"/>
                </a:solidFill>
              </a:rPr>
              <a:t>Rows without enough history are safely returned as blank recommendations.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02920" y="320040"/>
            <a:ext cx="11155680" cy="54864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r>
              <a:rPr lang="en-US" sz="2800" b="1">
                <a:solidFill>
                  <a:srgbClr val="0F172A"/>
                </a:solidFill>
              </a:rPr>
              <a:t>Where Output Goes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777240" y="1143000"/>
            <a:ext cx="10607040" cy="43891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r>
              <a:rPr lang="en-US" sz="2000">
                <a:solidFill>
                  <a:srgbClr val="1F2937"/>
                </a:solidFill>
              </a:rPr>
              <a:t>• Account-level predictions table: ai_ml_recommendations_data.</a:t>
            </a:r>
          </a:p>
          <a:p>
            <a:r>
              <a:rPr lang="en-US" sz="2000">
                <a:solidFill>
                  <a:srgbClr val="1F2937"/>
                </a:solidFill>
              </a:rPr>
              <a:t>• Feature snapshot table: ai_ml_recommendations_feature.</a:t>
            </a:r>
          </a:p>
          <a:p>
            <a:r>
              <a:rPr lang="en-US" sz="2000">
                <a:solidFill>
                  <a:srgbClr val="1F2937"/>
                </a:solidFill>
              </a:rPr>
              <a:t>• Campaign scheduler table: ai_ml_campaign_recommendations.</a:t>
            </a:r>
          </a:p>
          <a:p>
            <a:r>
              <a:rPr lang="en-US" sz="2000">
                <a:solidFill>
                  <a:srgbClr val="1F2937"/>
                </a:solidFill>
              </a:rPr>
              <a:t>• Campaign mapping table: ai_ml_campaign_mapping.</a:t>
            </a:r>
          </a:p>
          <a:p>
            <a:r>
              <a:rPr lang="en-US" sz="2000">
                <a:solidFill>
                  <a:srgbClr val="1F2937"/>
                </a:solidFill>
              </a:rPr>
              <a:t>• Audit table records run status and counts.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02920" y="320040"/>
            <a:ext cx="11155680" cy="54864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r>
              <a:rPr lang="en-US" sz="2800" b="1">
                <a:solidFill>
                  <a:srgbClr val="0F172A"/>
                </a:solidFill>
              </a:rPr>
              <a:t>Simple Takeaway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777240" y="1143000"/>
            <a:ext cx="10607040" cy="43891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r>
              <a:rPr lang="en-US" sz="2000">
                <a:solidFill>
                  <a:srgbClr val="1F2937"/>
                </a:solidFill>
              </a:rPr>
              <a:t>• Model converts past communication behavior into next-month campaign guidance.</a:t>
            </a:r>
          </a:p>
          <a:p>
            <a:r>
              <a:rPr lang="en-US" sz="2000">
                <a:solidFill>
                  <a:srgbClr val="1F2937"/>
                </a:solidFill>
              </a:rPr>
              <a:t>• Business rules keep recommendation count controlled by risk.</a:t>
            </a:r>
          </a:p>
          <a:p>
            <a:r>
              <a:rPr lang="en-US" sz="2000">
                <a:solidFill>
                  <a:srgbClr val="1F2937"/>
                </a:solidFill>
              </a:rPr>
              <a:t>• Airflow will automate both monthly inference and controlled retraining.</a:t>
            </a:r>
          </a:p>
          <a:p>
            <a:r>
              <a:rPr lang="en-US" sz="2000">
                <a:solidFill>
                  <a:srgbClr val="1F2937"/>
                </a:solidFill>
              </a:rPr>
              <a:t>• Production pipeline stores both predictions and campaign rows.</a:t>
            </a:r>
          </a:p>
          <a:p>
            <a:r>
              <a:rPr lang="en-US" sz="2000">
                <a:solidFill>
                  <a:srgbClr val="1F2937"/>
                </a:solidFill>
              </a:rPr>
              <a:t>• Main improvement area: reduce blank recommendations by increasing usable account history/features.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takeholder">
  <a:themeElements>
    <a:clrScheme name="Stakeholder">
      <a:dk1>
        <a:srgbClr val="111827"/>
      </a:dk1>
      <a:lt1>
        <a:srgbClr val="FFFFFF"/>
      </a:lt1>
      <a:dk2>
        <a:srgbClr val="334155"/>
      </a:dk2>
      <a:lt2>
        <a:srgbClr val="F8FAFC"/>
      </a:lt2>
      <a:accent1>
        <a:srgbClr val="0284C7"/>
      </a:accent1>
      <a:accent2>
        <a:srgbClr val="16A34A"/>
      </a:accent2>
      <a:accent3>
        <a:srgbClr val="F59E0B"/>
      </a:accent3>
      <a:accent4>
        <a:srgbClr val="DC2626"/>
      </a:accent4>
      <a:accent5>
        <a:srgbClr val="7C3AED"/>
      </a:accent5>
      <a:accent6>
        <a:srgbClr val="0891B2"/>
      </a:accent6>
      <a:hlink>
        <a:srgbClr val="2563EB"/>
      </a:hlink>
      <a:folHlink>
        <a:srgbClr val="7C3AED"/>
      </a:folHlink>
    </a:clrScheme>
    <a:fontScheme name="Aptos">
      <a:majorFont>
        <a:latin typeface="Aptos Display"/>
      </a:majorFont>
      <a:minorFont>
        <a:latin typeface="Aptos"/>
      </a:minorFont>
    </a:fontScheme>
    <a:fmtScheme name="Default">
      <a:fillStyleLst>
        <a:solidFill>
          <a:schemeClr val="phClr"/>
        </a:solidFill>
      </a:fillStyleLst>
      <a:lnStyleLst>
        <a:ln w="9525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Codex</Application>
  <PresentationFormat>On-screen Show (16:9)</PresentationFormat>
  <Slides>16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Campaign Recommendation Stakeholder Overview</dc:title>
  <dc:creator>Codex</dc:creator>
  <cp:lastModifiedBy>Codex</cp:lastModifiedBy>
  <dcterms:created xsi:type="dcterms:W3CDTF">2026-05-14T00:00:00Z</dcterms:created>
  <dcterms:modified xsi:type="dcterms:W3CDTF">2026-05-14T00:00:00Z</dcterms:modified>
</cp:coreProperties>
</file>